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6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-403" y="-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thini Mohan" userId="474bc158-19d5-47aa-903e-624d37a0a8e0" providerId="ADAL" clId="{BAC05C9F-06BA-48FD-9BB8-61B9C8C310B3}"/>
    <pc:docChg chg="undo custSel addSld modSld">
      <pc:chgData name="Nanthini Mohan" userId="474bc158-19d5-47aa-903e-624d37a0a8e0" providerId="ADAL" clId="{BAC05C9F-06BA-48FD-9BB8-61B9C8C310B3}" dt="2026-08-14T13:01:46.080" v="256" actId="20577"/>
      <pc:docMkLst>
        <pc:docMk/>
      </pc:docMkLst>
      <pc:sldChg chg="modSp mod">
        <pc:chgData name="Nanthini Mohan" userId="474bc158-19d5-47aa-903e-624d37a0a8e0" providerId="ADAL" clId="{BAC05C9F-06BA-48FD-9BB8-61B9C8C310B3}" dt="2026-08-14T12:52:23.820" v="237" actId="20577"/>
        <pc:sldMkLst>
          <pc:docMk/>
          <pc:sldMk cId="953325580" sldId="256"/>
        </pc:sldMkLst>
        <pc:spChg chg="mod">
          <ac:chgData name="Nanthini Mohan" userId="474bc158-19d5-47aa-903e-624d37a0a8e0" providerId="ADAL" clId="{BAC05C9F-06BA-48FD-9BB8-61B9C8C310B3}" dt="2026-08-14T12:52:23.820" v="237" actId="20577"/>
          <ac:spMkLst>
            <pc:docMk/>
            <pc:sldMk cId="953325580" sldId="256"/>
            <ac:spMk id="2" creationId="{A8A11E26-4C38-41A6-9857-11032CEECD80}"/>
          </ac:spMkLst>
        </pc:spChg>
        <pc:spChg chg="mod">
          <ac:chgData name="Nanthini Mohan" userId="474bc158-19d5-47aa-903e-624d37a0a8e0" providerId="ADAL" clId="{BAC05C9F-06BA-48FD-9BB8-61B9C8C310B3}" dt="2026-08-07T12:49:09.738" v="182" actId="20577"/>
          <ac:spMkLst>
            <pc:docMk/>
            <pc:sldMk cId="953325580" sldId="256"/>
            <ac:spMk id="4" creationId="{00000000-0000-0000-0000-000000000000}"/>
          </ac:spMkLst>
        </pc:spChg>
      </pc:sldChg>
      <pc:sldChg chg="addSp modSp mod">
        <pc:chgData name="Nanthini Mohan" userId="474bc158-19d5-47aa-903e-624d37a0a8e0" providerId="ADAL" clId="{BAC05C9F-06BA-48FD-9BB8-61B9C8C310B3}" dt="2026-08-07T12:59:44.086" v="185" actId="1076"/>
        <pc:sldMkLst>
          <pc:docMk/>
          <pc:sldMk cId="1483293388" sldId="267"/>
        </pc:sldMkLst>
        <pc:picChg chg="add mod">
          <ac:chgData name="Nanthini Mohan" userId="474bc158-19d5-47aa-903e-624d37a0a8e0" providerId="ADAL" clId="{BAC05C9F-06BA-48FD-9BB8-61B9C8C310B3}" dt="2026-08-07T12:59:44.086" v="185" actId="1076"/>
          <ac:picMkLst>
            <pc:docMk/>
            <pc:sldMk cId="1483293388" sldId="267"/>
            <ac:picMk id="4" creationId="{20C4544B-CCCE-4136-353A-F3921875E0E6}"/>
          </ac:picMkLst>
        </pc:picChg>
      </pc:sldChg>
      <pc:sldChg chg="modSp mod">
        <pc:chgData name="Nanthini Mohan" userId="474bc158-19d5-47aa-903e-624d37a0a8e0" providerId="ADAL" clId="{BAC05C9F-06BA-48FD-9BB8-61B9C8C310B3}" dt="2026-08-14T13:01:46.080" v="256" actId="20577"/>
        <pc:sldMkLst>
          <pc:docMk/>
          <pc:sldMk cId="258852918" sldId="2146847056"/>
        </pc:sldMkLst>
        <pc:spChg chg="mod">
          <ac:chgData name="Nanthini Mohan" userId="474bc158-19d5-47aa-903e-624d37a0a8e0" providerId="ADAL" clId="{BAC05C9F-06BA-48FD-9BB8-61B9C8C310B3}" dt="2026-08-14T13:01:46.080" v="256" actId="20577"/>
          <ac:spMkLst>
            <pc:docMk/>
            <pc:sldMk cId="258852918" sldId="2146847056"/>
            <ac:spMk id="3" creationId="{618C47C2-EF01-12B0-99EA-861F9629D1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556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8/20/2026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8/20/2026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8/20/2026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xmlns="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15343" TargetMode="External"/><Relationship Id="rId2" Type="http://schemas.openxmlformats.org/officeDocument/2006/relationships/hyperlink" Target="https://huggingface.co/Ateeqq/ai-vs-human-image-detecto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streamlit.io/" TargetMode="External"/><Relationship Id="rId5" Type="http://schemas.openxmlformats.org/officeDocument/2006/relationships/hyperlink" Target="https://fastapi.tiangolo.com/" TargetMode="External"/><Relationship Id="rId4" Type="http://schemas.openxmlformats.org/officeDocument/2006/relationships/hyperlink" Target="https://c2pa.org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teekGupta786/Truthify.gi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dirty="0" err="1">
                <a:solidFill>
                  <a:schemeClr val="accent1">
                    <a:lumMod val="75000"/>
                  </a:schemeClr>
                </a:solidFill>
              </a:rPr>
              <a:t>Truthify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 - AI Media Authenticity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9903" y="874054"/>
            <a:ext cx="1144545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23735" y="3776244"/>
            <a:ext cx="8778548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Light" pitchFamily="34" charset="0"/>
              </a:rPr>
              <a:t>Presented By:</a:t>
            </a:r>
          </a:p>
          <a:p>
            <a:r>
              <a:rPr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Light" pitchFamily="34" charset="0"/>
              </a:rPr>
              <a:t>Student Name: </a:t>
            </a:r>
            <a:r>
              <a:rPr sz="20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Bahnschrift Light" pitchFamily="34" charset="0"/>
              </a:rPr>
              <a:t>Prateek</a:t>
            </a:r>
            <a:r>
              <a:rPr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Light" pitchFamily="34" charset="0"/>
              </a:rPr>
              <a:t> Gupta</a:t>
            </a:r>
          </a:p>
          <a:p>
            <a:r>
              <a:rPr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Light" pitchFamily="34" charset="0"/>
              </a:rPr>
              <a:t>College Name: </a:t>
            </a:r>
            <a:r>
              <a:rPr lang="en-US" sz="2000" b="1" dirty="0" err="1" smtClean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Light" pitchFamily="34" charset="0"/>
              </a:rPr>
              <a:t>Shri</a:t>
            </a:r>
            <a:r>
              <a:rPr lang="en-US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Light" pitchFamily="34" charset="0"/>
              </a:rPr>
              <a:t> Krishna Institute of Management and Science</a:t>
            </a:r>
            <a:endParaRPr sz="2000" b="1" dirty="0">
              <a:solidFill>
                <a:schemeClr val="accent4">
                  <a:lumMod val="20000"/>
                  <a:lumOff val="80000"/>
                </a:schemeClr>
              </a:solidFill>
              <a:latin typeface="Bahnschrift Light" pitchFamily="34" charset="0"/>
            </a:endParaRPr>
          </a:p>
          <a:p>
            <a:r>
              <a:rPr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Light" pitchFamily="34" charset="0"/>
              </a:rPr>
              <a:t>Department: </a:t>
            </a:r>
            <a:r>
              <a:rPr lang="en-US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Light" pitchFamily="34" charset="0"/>
              </a:rPr>
              <a:t>BCA</a:t>
            </a:r>
            <a:endParaRPr sz="2000" b="1" dirty="0">
              <a:solidFill>
                <a:schemeClr val="accent4">
                  <a:lumMod val="20000"/>
                  <a:lumOff val="80000"/>
                </a:schemeClr>
              </a:solidFill>
              <a:latin typeface="Bahnschrift Light" pitchFamily="34" charset="0"/>
            </a:endParaRPr>
          </a:p>
          <a:p>
            <a:r>
              <a:rPr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Light" pitchFamily="34" charset="0"/>
              </a:rPr>
              <a:t>AICTE ID: </a:t>
            </a:r>
            <a:r>
              <a:rPr lang="en-IN" sz="20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Light" pitchFamily="34" charset="0"/>
              </a:rPr>
              <a:t>STU6a1d1a42c5e4f1780292162</a:t>
            </a:r>
            <a:endParaRPr sz="2000" b="1" dirty="0">
              <a:solidFill>
                <a:schemeClr val="accent4">
                  <a:lumMod val="20000"/>
                  <a:lumOff val="80000"/>
                </a:schemeClr>
              </a:solidFill>
              <a:latin typeface="Bahnschrift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749" y="769122"/>
            <a:ext cx="10515600" cy="598206"/>
          </a:xfrm>
        </p:spPr>
        <p:txBody>
          <a:bodyPr/>
          <a:lstStyle/>
          <a:p>
            <a:r>
              <a:rPr dirty="0"/>
              <a:t>OUTLINE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B2678641-EEA3-4EC4-BF39-4075B0C120E8}"/>
              </a:ext>
            </a:extLst>
          </p:cNvPr>
          <p:cNvSpPr txBox="1">
            <a:spLocks/>
          </p:cNvSpPr>
          <p:nvPr/>
        </p:nvSpPr>
        <p:spPr>
          <a:xfrm>
            <a:off x="400940" y="1326957"/>
            <a:ext cx="11019020" cy="52390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sz="2000" b="1" dirty="0" smtClean="0">
                <a:latin typeface="Arial"/>
                <a:ea typeface="+mn-lt"/>
                <a:cs typeface="Arial"/>
              </a:rPr>
              <a:t>  </a:t>
            </a:r>
            <a:endParaRPr lang="en-US" dirty="0" smtClean="0">
              <a:latin typeface="Arial"/>
              <a:cs typeface="Arial"/>
            </a:endParaRPr>
          </a:p>
          <a:p>
            <a:r>
              <a:rPr lang="en-US" sz="2000" b="1" dirty="0" smtClean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 smtClean="0">
                <a:latin typeface="Arial"/>
                <a:ea typeface="+mn-lt"/>
                <a:cs typeface="Arial"/>
              </a:rPr>
              <a:t>(Should not include solution)</a:t>
            </a:r>
            <a:endParaRPr lang="en-US" dirty="0" smtClean="0">
              <a:latin typeface="Arial"/>
              <a:cs typeface="Arial"/>
            </a:endParaRPr>
          </a:p>
          <a:p>
            <a:r>
              <a:rPr lang="en-US" sz="2000" b="1" dirty="0" smtClean="0">
                <a:latin typeface="Arial"/>
                <a:ea typeface="+mn-lt"/>
                <a:cs typeface="Arial"/>
              </a:rPr>
              <a:t>Proposed System/Solution</a:t>
            </a:r>
            <a:endParaRPr lang="en-US" dirty="0" smtClean="0">
              <a:latin typeface="Arial"/>
              <a:cs typeface="Arial"/>
            </a:endParaRPr>
          </a:p>
          <a:p>
            <a:r>
              <a:rPr lang="en-US" sz="2000" b="1" dirty="0" smtClean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 smtClean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 smtClean="0">
                <a:latin typeface="Arial"/>
                <a:ea typeface="+mn-lt"/>
                <a:cs typeface="+mn-lt"/>
              </a:rPr>
              <a:t>(Technology Used) </a:t>
            </a:r>
            <a:endParaRPr lang="en-US" dirty="0" smtClean="0">
              <a:latin typeface="Arial"/>
              <a:ea typeface="+mn-lt"/>
              <a:cs typeface="+mn-lt"/>
            </a:endParaRPr>
          </a:p>
          <a:p>
            <a:r>
              <a:rPr lang="en-US" sz="2000" b="1" dirty="0" smtClean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 smtClean="0">
              <a:latin typeface="Arial"/>
              <a:cs typeface="Calibri"/>
            </a:endParaRPr>
          </a:p>
          <a:p>
            <a:r>
              <a:rPr lang="en-US" sz="2000" b="1" dirty="0" smtClean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 smtClean="0">
                <a:latin typeface="Arial"/>
                <a:ea typeface="+mn-lt"/>
                <a:cs typeface="Arial"/>
              </a:rPr>
              <a:t>Conclusion</a:t>
            </a:r>
            <a:endParaRPr lang="en-US" dirty="0" smtClean="0">
              <a:latin typeface="Arial"/>
              <a:cs typeface="Arial"/>
            </a:endParaRPr>
          </a:p>
          <a:p>
            <a:r>
              <a:rPr lang="en-US" sz="2000" b="1" dirty="0" smtClean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 smtClean="0">
                <a:latin typeface="Arial"/>
                <a:ea typeface="+mn-lt"/>
                <a:cs typeface="Arial"/>
              </a:rPr>
              <a:t>References</a:t>
            </a:r>
            <a:endParaRPr lang="en-US" dirty="0" smtClean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000" b="1" dirty="0"/>
              <a:t>Key Challenges in Digital Media Authenticity:</a:t>
            </a:r>
          </a:p>
          <a:p>
            <a:endParaRPr dirty="0"/>
          </a:p>
          <a:p>
            <a:pPr marL="0" indent="0">
              <a:buNone/>
              <a:defRPr sz="1600"/>
            </a:pPr>
            <a:r>
              <a:rPr sz="1800" dirty="0"/>
              <a:t>1. Proliferation of Synthetic Content: Generative AI tools (</a:t>
            </a:r>
            <a:r>
              <a:rPr sz="1800" dirty="0" err="1"/>
              <a:t>Midjourney</a:t>
            </a:r>
            <a:r>
              <a:rPr sz="1800" dirty="0"/>
              <a:t>, Stable Diffusion, DALL-E, FLUX) produce hyper-realistic fake images.</a:t>
            </a:r>
          </a:p>
          <a:p>
            <a:endParaRPr sz="1800" dirty="0"/>
          </a:p>
          <a:p>
            <a:pPr marL="0" indent="0">
              <a:buNone/>
              <a:defRPr sz="1600"/>
            </a:pPr>
            <a:r>
              <a:rPr sz="1800" dirty="0"/>
              <a:t>2. Misinformation &amp; Digital Fraud: Fake media is widely used in disinformation campaigns, </a:t>
            </a:r>
            <a:r>
              <a:rPr sz="1800" dirty="0" err="1"/>
              <a:t>deepfake</a:t>
            </a:r>
            <a:r>
              <a:rPr sz="1800" dirty="0"/>
              <a:t> scams, and identity fraud.</a:t>
            </a:r>
          </a:p>
          <a:p>
            <a:endParaRPr sz="1800" dirty="0"/>
          </a:p>
          <a:p>
            <a:pPr marL="0" indent="0">
              <a:buNone/>
              <a:defRPr sz="1600"/>
            </a:pPr>
            <a:r>
              <a:rPr sz="1800" dirty="0"/>
              <a:t>3. Metadata Stripping: EXIF/XMP metadata is frequently stripped during social media transmission, hiding origin markers.</a:t>
            </a:r>
          </a:p>
          <a:p>
            <a:endParaRPr sz="1800" dirty="0"/>
          </a:p>
          <a:p>
            <a:pPr marL="0" indent="0">
              <a:buNone/>
              <a:defRPr sz="1600"/>
            </a:pPr>
            <a:r>
              <a:rPr sz="1800" dirty="0"/>
              <a:t>4. Single-Model Limitations: Standalone deep learning classifiers suffer from high false-positive rates without provenance context.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278" y="524264"/>
            <a:ext cx="11029616" cy="5302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10658" y="1028067"/>
            <a:ext cx="11901443" cy="6170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latin typeface="Corbel" pitchFamily="34" charset="0"/>
              </a:rPr>
              <a:t>The proposed system, </a:t>
            </a:r>
            <a:r>
              <a:rPr lang="en-IN" sz="1500" b="1" dirty="0" err="1">
                <a:latin typeface="Corbel" pitchFamily="34" charset="0"/>
              </a:rPr>
              <a:t>Truthify</a:t>
            </a:r>
            <a:r>
              <a:rPr lang="en-IN" sz="1500" b="1" dirty="0">
                <a:latin typeface="Corbel" pitchFamily="34" charset="0"/>
              </a:rPr>
              <a:t>, aims to address the challenge of predicting and detecting AI-generated </a:t>
            </a:r>
            <a:r>
              <a:rPr lang="en-IN" sz="1500" b="1" dirty="0" err="1">
                <a:latin typeface="Corbel" pitchFamily="34" charset="0"/>
              </a:rPr>
              <a:t>deepfakes</a:t>
            </a:r>
            <a:r>
              <a:rPr lang="en-IN" sz="1500" b="1" dirty="0">
                <a:latin typeface="Corbel" pitchFamily="34" charset="0"/>
              </a:rPr>
              <a:t> and synthetic media to ensure a trusted digital ecosystem. This involves leveraging data analytics, computer vision, and machine learning techniques to forecast media veracity accurately. The solution will consist of the following components</a:t>
            </a:r>
            <a:r>
              <a:rPr lang="en-IN" sz="1500" b="1" dirty="0" smtClean="0">
                <a:latin typeface="Corbel" pitchFamily="34" charset="0"/>
              </a:rPr>
              <a:t>:</a:t>
            </a:r>
          </a:p>
          <a:p>
            <a:endParaRPr lang="en-IN" sz="1500" dirty="0"/>
          </a:p>
          <a:p>
            <a:r>
              <a:rPr lang="en-IN" sz="1500" dirty="0"/>
              <a:t>▪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endParaRPr lang="en-IN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     ▪ 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Gather comprehensive datasets of authentic and AI-generated media across image, video, audio, and document formats.</a:t>
            </a:r>
          </a:p>
          <a:p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     ▪ 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Utilize real-time data ingestion pipelines, processing user-submitted media and live API data streams for analysis</a:t>
            </a:r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IN" sz="1500" b="1" dirty="0" err="1">
                <a:latin typeface="Times New Roman" pitchFamily="18" charset="0"/>
                <a:cs typeface="Times New Roman" pitchFamily="18" charset="0"/>
              </a:rPr>
              <a:t>Preprocessing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IN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1600" dirty="0" smtClean="0"/>
              <a:t>▪ 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Extracts EXIF and XMP metadata to identify generator signatures (e.g., </a:t>
            </a:r>
            <a:r>
              <a:rPr lang="en-IN" sz="1500" dirty="0" err="1">
                <a:latin typeface="Times New Roman" pitchFamily="18" charset="0"/>
                <a:cs typeface="Times New Roman" pitchFamily="18" charset="0"/>
              </a:rPr>
              <a:t>Midjourney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, DALL-E, Stable Diffusion).</a:t>
            </a:r>
          </a:p>
          <a:p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    ▪ 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Evaluates image structural parameters and checks for embedded C2PA content provenance credentials.</a:t>
            </a:r>
          </a:p>
          <a:p>
            <a:endParaRPr lang="en-IN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Machine Learning Algorithm</a:t>
            </a:r>
            <a:r>
              <a:rPr lang="en-IN" sz="15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IN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    ▪ 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Core Deep Learning Classifier: Integrates the fine-tuned </a:t>
            </a:r>
            <a:r>
              <a:rPr lang="en-IN" sz="1500" dirty="0" err="1">
                <a:latin typeface="Times New Roman" pitchFamily="18" charset="0"/>
                <a:cs typeface="Times New Roman" pitchFamily="18" charset="0"/>
              </a:rPr>
              <a:t>Ateeqq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IN" sz="1500" dirty="0" err="1"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IN" sz="15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-human-image-detector </a:t>
            </a:r>
            <a:r>
              <a:rPr lang="en-IN" sz="1500" dirty="0" err="1">
                <a:latin typeface="Times New Roman" pitchFamily="18" charset="0"/>
                <a:cs typeface="Times New Roman" pitchFamily="18" charset="0"/>
              </a:rPr>
              <a:t>SigLIP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(Sigmoid Loss for Language Image Pre-Training) Vision Transformer model from Hugging Face for high-precision binary classification (AI-Generated vs. 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Human/Real).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15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    ▪ 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Multi-Signal Fusion Engine: Combines the </a:t>
            </a:r>
            <a:r>
              <a:rPr lang="en-IN" sz="1500" dirty="0" err="1">
                <a:latin typeface="Times New Roman" pitchFamily="18" charset="0"/>
                <a:cs typeface="Times New Roman" pitchFamily="18" charset="0"/>
              </a:rPr>
              <a:t>SigLIP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model's raw probability </a:t>
            </a:r>
            <a:r>
              <a:rPr lang="en-IN" sz="1500" dirty="0" err="1">
                <a:latin typeface="Times New Roman" pitchFamily="18" charset="0"/>
                <a:cs typeface="Times New Roman" pitchFamily="18" charset="0"/>
              </a:rPr>
              <a:t>logits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with deterministic checks (C2PA content credentials, EXIF </a:t>
            </a:r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            generator 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tags, and </a:t>
            </a:r>
            <a:r>
              <a:rPr lang="en-IN" sz="1500" dirty="0" err="1">
                <a:latin typeface="Times New Roman" pitchFamily="18" charset="0"/>
                <a:cs typeface="Times New Roman" pitchFamily="18" charset="0"/>
              </a:rPr>
              <a:t>dHash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 perceptual hash matching) to compute a final weighted confidence score.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Deployment:</a:t>
            </a:r>
            <a:endParaRPr lang="en-IN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▪ Deployed locally as a high-performance </a:t>
            </a:r>
            <a:r>
              <a:rPr lang="en-US" sz="1500" b="1" dirty="0" err="1">
                <a:latin typeface="Times New Roman" pitchFamily="18" charset="0"/>
                <a:cs typeface="Times New Roman" pitchFamily="18" charset="0"/>
              </a:rPr>
              <a:t>FastAPI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backend with a custom Web Dashboard (run.py).</a:t>
            </a:r>
          </a:p>
          <a:p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     ▪ 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Deployed an interactive UI using </a:t>
            </a:r>
            <a:r>
              <a:rPr lang="en-US" sz="1500" b="1" dirty="0" err="1">
                <a:latin typeface="Times New Roman" pitchFamily="18" charset="0"/>
                <a:cs typeface="Times New Roman" pitchFamily="18" charset="0"/>
              </a:rPr>
              <a:t>Streamlit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(streamlit_app.py) for real-time user testing and instant image verification.</a:t>
            </a:r>
          </a:p>
          <a:p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▪ </a:t>
            </a:r>
            <a:r>
              <a:rPr lang="en-IN" sz="1500" b="1" dirty="0">
                <a:latin typeface="Times New Roman" pitchFamily="18" charset="0"/>
                <a:cs typeface="Times New Roman" pitchFamily="18" charset="0"/>
              </a:rPr>
              <a:t>Evaluation:</a:t>
            </a:r>
            <a:endParaRPr lang="en-IN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     ▪ 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Evaluates image authenticity by generating a weighted confidence score and classification output (AI-Generated vs. Real).</a:t>
            </a:r>
          </a:p>
          <a:p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    ▪ 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Facilitates continuous model performance feedback and custom hash registration to enhance detection accuracy.</a:t>
            </a:r>
          </a:p>
          <a:p>
            <a:endParaRPr lang="en-IN" sz="15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000" b="1" dirty="0"/>
              <a:t>Technology Stack &amp; System Requirements: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1. Machine Learning &amp; Core Frameworks: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dirty="0" smtClean="0"/>
              <a:t>• </a:t>
            </a:r>
            <a:r>
              <a:rPr dirty="0"/>
              <a:t>Language &amp; Runtime: Python 3.11, </a:t>
            </a:r>
            <a:r>
              <a:rPr dirty="0" err="1"/>
              <a:t>FastAPI</a:t>
            </a:r>
            <a:r>
              <a:rPr dirty="0"/>
              <a:t>, </a:t>
            </a:r>
            <a:r>
              <a:rPr dirty="0" err="1"/>
              <a:t>Uvicorn</a:t>
            </a:r>
            <a:r>
              <a:rPr dirty="0"/>
              <a:t>, </a:t>
            </a:r>
            <a:r>
              <a:rPr dirty="0" err="1"/>
              <a:t>PyTorch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dirty="0" smtClean="0"/>
              <a:t>   </a:t>
            </a:r>
            <a:r>
              <a:rPr dirty="0"/>
              <a:t>• Vision Transformer: </a:t>
            </a:r>
            <a:r>
              <a:rPr dirty="0" err="1"/>
              <a:t>SigLIP</a:t>
            </a:r>
            <a:r>
              <a:rPr dirty="0"/>
              <a:t> Architecture (</a:t>
            </a:r>
            <a:r>
              <a:rPr dirty="0" err="1"/>
              <a:t>Ateeqq</a:t>
            </a:r>
            <a:r>
              <a:rPr dirty="0"/>
              <a:t>/</a:t>
            </a:r>
            <a:r>
              <a:rPr dirty="0" err="1"/>
              <a:t>ai</a:t>
            </a:r>
            <a:r>
              <a:rPr dirty="0"/>
              <a:t>-</a:t>
            </a:r>
            <a:r>
              <a:rPr dirty="0" err="1"/>
              <a:t>vs</a:t>
            </a:r>
            <a:r>
              <a:rPr dirty="0"/>
              <a:t>-human-image-detector).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dirty="0" smtClean="0"/>
              <a:t>   </a:t>
            </a:r>
            <a:r>
              <a:rPr dirty="0"/>
              <a:t>• Image Processing &amp; Hashing: Pillow (PIL), </a:t>
            </a:r>
            <a:r>
              <a:rPr dirty="0" err="1"/>
              <a:t>NumPy</a:t>
            </a:r>
            <a:r>
              <a:rPr dirty="0"/>
              <a:t>, Perceptual </a:t>
            </a:r>
            <a:r>
              <a:rPr dirty="0" err="1"/>
              <a:t>dHash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2. UI &amp; Web System: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dirty="0" smtClean="0"/>
              <a:t>  </a:t>
            </a:r>
            <a:r>
              <a:rPr dirty="0"/>
              <a:t>• Frontend: Responsive HTML5, </a:t>
            </a:r>
            <a:r>
              <a:rPr dirty="0" err="1"/>
              <a:t>Glassmorphism</a:t>
            </a:r>
            <a:r>
              <a:rPr dirty="0"/>
              <a:t> CSS3, Modern JavaScript.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dirty="0" smtClean="0"/>
              <a:t>  </a:t>
            </a:r>
            <a:r>
              <a:rPr dirty="0"/>
              <a:t>• Deployment: </a:t>
            </a:r>
            <a:r>
              <a:rPr dirty="0" err="1" smtClean="0"/>
              <a:t>Streamlit</a:t>
            </a:r>
            <a:r>
              <a:rPr lang="en-US" dirty="0"/>
              <a:t>.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3. Hardware Specs: 2+ </a:t>
            </a:r>
            <a:r>
              <a:rPr dirty="0" err="1"/>
              <a:t>vCPU</a:t>
            </a:r>
            <a:r>
              <a:rPr dirty="0"/>
              <a:t> Cores, 4GB+ RAM, ~2GB Storage for model cache.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888763"/>
            <a:ext cx="11029615" cy="54436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1. Deep Learning Model (</a:t>
            </a:r>
            <a:r>
              <a:rPr dirty="0" err="1"/>
              <a:t>SigLIP</a:t>
            </a:r>
            <a:r>
              <a:rPr dirty="0"/>
              <a:t> Transformer):</a:t>
            </a:r>
          </a:p>
          <a:p>
            <a:pPr marL="0" indent="0" algn="ctr">
              <a:buNone/>
            </a:pPr>
            <a:r>
              <a:rPr lang="en-US" dirty="0" smtClean="0"/>
              <a:t>      </a:t>
            </a:r>
            <a:r>
              <a:rPr dirty="0" smtClean="0"/>
              <a:t>   </a:t>
            </a:r>
            <a:r>
              <a:rPr lang="en-IN" dirty="0"/>
              <a:t>Utilizes the </a:t>
            </a:r>
            <a:r>
              <a:rPr lang="en-IN" dirty="0" err="1"/>
              <a:t>Ateeqq</a:t>
            </a:r>
            <a:r>
              <a:rPr lang="en-IN" dirty="0"/>
              <a:t>/</a:t>
            </a:r>
            <a:r>
              <a:rPr lang="en-IN" dirty="0" err="1"/>
              <a:t>ai</a:t>
            </a:r>
            <a:r>
              <a:rPr lang="en-IN" dirty="0"/>
              <a:t>-</a:t>
            </a:r>
            <a:r>
              <a:rPr lang="en-IN" dirty="0" err="1"/>
              <a:t>vs</a:t>
            </a:r>
            <a:r>
              <a:rPr lang="en-IN" dirty="0"/>
              <a:t>-human-image-detector model based on the </a:t>
            </a:r>
            <a:r>
              <a:rPr lang="en-IN" dirty="0" err="1"/>
              <a:t>SigLIP</a:t>
            </a:r>
            <a:r>
              <a:rPr lang="en-IN" dirty="0"/>
              <a:t> (Sigmoid Loss for Language Image </a:t>
            </a:r>
            <a:r>
              <a:rPr lang="en-IN" dirty="0" smtClean="0"/>
              <a:t> Pre-Training</a:t>
            </a:r>
            <a:r>
              <a:rPr lang="en-IN" dirty="0"/>
              <a:t>) Vision Transformer architecture from Hugging Face. Chosen for its superior ability to extract fine-grained visual patch </a:t>
            </a:r>
            <a:r>
              <a:rPr lang="en-IN" dirty="0" err="1"/>
              <a:t>embeddings</a:t>
            </a:r>
            <a:r>
              <a:rPr lang="en-IN" dirty="0"/>
              <a:t> and detect subtle pixel-level generation </a:t>
            </a:r>
            <a:r>
              <a:rPr lang="en-IN" dirty="0" err="1"/>
              <a:t>artifacts</a:t>
            </a:r>
            <a:r>
              <a:rPr lang="en-IN" dirty="0"/>
              <a:t> produced by modern generative models (e.g., </a:t>
            </a:r>
            <a:r>
              <a:rPr lang="en-IN" dirty="0" err="1"/>
              <a:t>Midjourney</a:t>
            </a:r>
            <a:r>
              <a:rPr lang="en-IN" dirty="0"/>
              <a:t>, DALL-E, Stable Diffusion</a:t>
            </a:r>
            <a:r>
              <a:rPr lang="en-IN" dirty="0" smtClean="0"/>
              <a:t>).</a:t>
            </a:r>
          </a:p>
          <a:p>
            <a:pPr marL="0" indent="0">
              <a:buNone/>
            </a:pPr>
            <a:endParaRPr dirty="0"/>
          </a:p>
          <a:p>
            <a:r>
              <a:rPr dirty="0" smtClean="0"/>
              <a:t>2. </a:t>
            </a:r>
            <a:r>
              <a:rPr lang="en-US" dirty="0"/>
              <a:t>Training</a:t>
            </a:r>
            <a:r>
              <a:rPr lang="en-US" b="1" dirty="0"/>
              <a:t> </a:t>
            </a:r>
            <a:r>
              <a:rPr lang="en-US" dirty="0"/>
              <a:t>Process</a:t>
            </a:r>
            <a:r>
              <a:rPr lang="en-US" b="1" dirty="0"/>
              <a:t>:</a:t>
            </a: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         </a:t>
            </a:r>
            <a:r>
              <a:rPr lang="en-US" dirty="0"/>
              <a:t>Leverages a pre-trained </a:t>
            </a:r>
            <a:r>
              <a:rPr lang="en-US" dirty="0" err="1"/>
              <a:t>SigLIP</a:t>
            </a:r>
            <a:r>
              <a:rPr lang="en-US" dirty="0"/>
              <a:t> Vision Transformer fine-tuned on extensive datasets of paired AI-generated and authentic human-captured images</a:t>
            </a:r>
          </a:p>
          <a:p>
            <a:pPr marL="0" indent="0">
              <a:buNone/>
              <a:defRPr sz="1600"/>
            </a:pPr>
            <a:endParaRPr dirty="0"/>
          </a:p>
          <a:p>
            <a:r>
              <a:rPr lang="en-US" dirty="0" smtClean="0"/>
              <a:t>3.Prediction Process</a:t>
            </a:r>
          </a:p>
          <a:p>
            <a:pPr marL="0" indent="0" algn="ctr">
              <a:buNone/>
            </a:pPr>
            <a:r>
              <a:rPr lang="en-US" dirty="0"/>
              <a:t> 	Evaluates input images in real time by passing pixel arrays through the </a:t>
            </a:r>
            <a:r>
              <a:rPr lang="en-US" dirty="0" err="1"/>
              <a:t>SigLIP</a:t>
            </a:r>
            <a:r>
              <a:rPr lang="en-US" dirty="0"/>
              <a:t> inference pipeline to generate base probabilities. Combines these deep learning </a:t>
            </a:r>
            <a:r>
              <a:rPr lang="en-US" dirty="0" err="1"/>
              <a:t>logits</a:t>
            </a:r>
            <a:r>
              <a:rPr lang="en-US" dirty="0"/>
              <a:t> with deterministic C2PA manifest scans, EXIF metadata keyword parsing, and perceptual hashing (</a:t>
            </a:r>
            <a:r>
              <a:rPr lang="en-US" dirty="0" err="1"/>
              <a:t>dHash</a:t>
            </a:r>
            <a:r>
              <a:rPr lang="en-US" dirty="0"/>
              <a:t>) matching to compute a final fused confidence score and binary verdict ("AI Generated" vs. "Real").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80" y="1302025"/>
            <a:ext cx="2649196" cy="5244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dirty="0" smtClean="0"/>
              <a:t>Model </a:t>
            </a:r>
            <a:r>
              <a:rPr sz="1600" dirty="0"/>
              <a:t>&amp; Ensemble Accuracy:</a:t>
            </a:r>
          </a:p>
          <a:p>
            <a:pPr marL="0" indent="0">
              <a:buNone/>
            </a:pPr>
            <a:r>
              <a:rPr sz="1600" dirty="0"/>
              <a:t>   • </a:t>
            </a:r>
            <a:r>
              <a:rPr sz="1600" dirty="0" err="1"/>
              <a:t>SigLIP</a:t>
            </a:r>
            <a:r>
              <a:rPr sz="1600" dirty="0"/>
              <a:t> Model Accuracy: ~94.5% on benchmark AI </a:t>
            </a:r>
            <a:r>
              <a:rPr sz="1600" dirty="0" err="1"/>
              <a:t>vs</a:t>
            </a:r>
            <a:r>
              <a:rPr sz="1600" dirty="0"/>
              <a:t> Real image datasets.</a:t>
            </a:r>
          </a:p>
          <a:p>
            <a:pPr marL="0" indent="0">
              <a:buNone/>
            </a:pPr>
            <a:r>
              <a:rPr sz="1600" dirty="0"/>
              <a:t>   • Multi-Signal Ensemble Accuracy: &gt;97.8% confidence when combining metadata &amp; </a:t>
            </a:r>
            <a:r>
              <a:rPr sz="1600" dirty="0" err="1"/>
              <a:t>pHash</a:t>
            </a:r>
            <a:r>
              <a:rPr sz="1600" dirty="0"/>
              <a:t>.</a:t>
            </a:r>
          </a:p>
          <a:p>
            <a:pPr marL="0" indent="0">
              <a:buNone/>
            </a:pPr>
            <a:r>
              <a:rPr sz="1600" dirty="0" smtClean="0"/>
              <a:t>  </a:t>
            </a:r>
            <a:r>
              <a:rPr sz="1600" dirty="0"/>
              <a:t>• Inference Time: 200ms – 450ms per scan.</a:t>
            </a:r>
          </a:p>
          <a:p>
            <a:pPr algn="just"/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665" y="982766"/>
            <a:ext cx="9084181" cy="538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106" y="838892"/>
            <a:ext cx="11029616" cy="5302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88" y="1700612"/>
            <a:ext cx="11029615" cy="3907268"/>
          </a:xfrm>
        </p:spPr>
        <p:txBody>
          <a:bodyPr>
            <a:normAutofit/>
          </a:bodyPr>
          <a:lstStyle/>
          <a:p>
            <a:r>
              <a:rPr lang="en-IN" sz="1800" b="1" dirty="0"/>
              <a:t>System Effectiveness:</a:t>
            </a:r>
            <a:r>
              <a:rPr lang="en-IN" sz="1800" dirty="0"/>
              <a:t> Blends </a:t>
            </a:r>
            <a:r>
              <a:rPr lang="en-IN" sz="1800" dirty="0" err="1"/>
              <a:t>Ateeqq</a:t>
            </a:r>
            <a:r>
              <a:rPr lang="en-IN" sz="1800" dirty="0"/>
              <a:t>/</a:t>
            </a:r>
            <a:r>
              <a:rPr lang="en-IN" sz="1800" dirty="0" err="1"/>
              <a:t>ai</a:t>
            </a:r>
            <a:r>
              <a:rPr lang="en-IN" sz="1800" dirty="0"/>
              <a:t>-</a:t>
            </a:r>
            <a:r>
              <a:rPr lang="en-IN" sz="1800" dirty="0" err="1"/>
              <a:t>vs</a:t>
            </a:r>
            <a:r>
              <a:rPr lang="en-IN" sz="1800" dirty="0"/>
              <a:t>-human-image-detector </a:t>
            </a:r>
            <a:r>
              <a:rPr lang="en-IN" sz="1800" dirty="0" err="1"/>
              <a:t>SigLIP</a:t>
            </a:r>
            <a:r>
              <a:rPr lang="en-IN" sz="1800" dirty="0"/>
              <a:t> predictions with C2PA, EXIF/XMP metadata, and </a:t>
            </a:r>
            <a:r>
              <a:rPr lang="en-IN" sz="1800" dirty="0" err="1"/>
              <a:t>dHash</a:t>
            </a:r>
            <a:r>
              <a:rPr lang="en-IN" sz="1800" dirty="0"/>
              <a:t> hashing to detect AI-generated images accurately.</a:t>
            </a:r>
          </a:p>
          <a:p>
            <a:r>
              <a:rPr lang="en-IN" sz="1800" b="1" dirty="0"/>
              <a:t>Implementation Challenges:</a:t>
            </a:r>
            <a:r>
              <a:rPr lang="en-IN" sz="1800" dirty="0"/>
              <a:t> Manages initial ~2GB model download delays, maintains fast inference on </a:t>
            </a:r>
            <a:r>
              <a:rPr lang="en-IN" sz="1800" dirty="0" err="1"/>
              <a:t>FastAPI</a:t>
            </a:r>
            <a:r>
              <a:rPr lang="en-IN" sz="1800" dirty="0"/>
              <a:t> and </a:t>
            </a:r>
            <a:r>
              <a:rPr lang="en-IN" sz="1800" dirty="0" err="1"/>
              <a:t>Streamlit</a:t>
            </a:r>
            <a:r>
              <a:rPr lang="en-IN" sz="1800" dirty="0"/>
              <a:t>, and handles missing metadata from compressed uploaded media.</a:t>
            </a:r>
          </a:p>
          <a:p>
            <a:r>
              <a:rPr lang="en-IN" sz="1800" b="1" dirty="0"/>
              <a:t>Potential Improvements:</a:t>
            </a:r>
            <a:r>
              <a:rPr lang="en-IN" sz="1800" dirty="0"/>
              <a:t> Plans to add video/audio </a:t>
            </a:r>
            <a:r>
              <a:rPr lang="en-IN" sz="1800" dirty="0" err="1"/>
              <a:t>deepfake</a:t>
            </a:r>
            <a:r>
              <a:rPr lang="en-IN" sz="1800" dirty="0"/>
              <a:t> detection, expand reference hashes, and apply model quantization for faster CPU performance.</a:t>
            </a:r>
          </a:p>
          <a:p>
            <a:r>
              <a:rPr lang="en-IN" sz="1800" b="1" dirty="0"/>
              <a:t>Core Importance:</a:t>
            </a:r>
            <a:r>
              <a:rPr lang="en-IN" sz="1800" dirty="0"/>
              <a:t> Delivers essential AI media authenticity verification to combat online disinformation and ensure digital content integrity.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Incorporate Additional Data Sources:</a:t>
            </a:r>
            <a:r>
              <a:rPr lang="en-IN" sz="1800" dirty="0"/>
              <a:t> Expand beyond image detection to include audio spectrograms, video </a:t>
            </a:r>
            <a:r>
              <a:rPr lang="en-IN" sz="1800" dirty="0" err="1"/>
              <a:t>deepfake</a:t>
            </a:r>
            <a:r>
              <a:rPr lang="en-IN" sz="1800" dirty="0"/>
              <a:t> frame-analysis, and real-time social media API content streams.</a:t>
            </a:r>
          </a:p>
          <a:p>
            <a:r>
              <a:rPr lang="en-IN" sz="1800" b="1" dirty="0"/>
              <a:t>Optimize Algorithm Performance:</a:t>
            </a:r>
            <a:r>
              <a:rPr lang="en-IN" sz="1800" dirty="0"/>
              <a:t> Apply ONNX runtime conversion and model quantization (INT8) to reduce memory usage and accelerate </a:t>
            </a:r>
            <a:r>
              <a:rPr lang="en-IN" sz="1800" dirty="0" err="1"/>
              <a:t>SigLIP</a:t>
            </a:r>
            <a:r>
              <a:rPr lang="en-IN" sz="1800" dirty="0"/>
              <a:t> inference on CPU environments.</a:t>
            </a:r>
          </a:p>
          <a:p>
            <a:r>
              <a:rPr lang="en-IN" sz="1800" b="1" dirty="0"/>
              <a:t>Expand Media &amp; Modality Scope:</a:t>
            </a:r>
            <a:r>
              <a:rPr lang="en-IN" sz="1800" dirty="0"/>
              <a:t> Scale the reference perceptual hash database (data/</a:t>
            </a:r>
            <a:r>
              <a:rPr lang="en-IN" sz="1800" dirty="0" err="1"/>
              <a:t>reference_hashes.json</a:t>
            </a:r>
            <a:r>
              <a:rPr lang="en-IN" sz="1800" dirty="0"/>
              <a:t>) and extend C2PA/EXIF scanning to support a broader array of generative model signatures.</a:t>
            </a:r>
          </a:p>
          <a:p>
            <a:r>
              <a:rPr lang="en-IN" sz="1800" b="1" dirty="0"/>
              <a:t>Integrate Emerging Technologies:</a:t>
            </a:r>
            <a:r>
              <a:rPr lang="en-IN" sz="1800" dirty="0"/>
              <a:t> Deploy edge-computing models directly within browser/mobile clients and leverage advanced multi-modal vision-language transformers for explainable forensic reports.</a:t>
            </a:r>
          </a:p>
          <a:p>
            <a:pPr marL="0" indent="0">
              <a:buNone/>
            </a:pPr>
            <a:endParaRPr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  <a:endParaRPr lang="en-US" b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572568"/>
            <a:ext cx="11029615" cy="540278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2000" dirty="0"/>
          </a:p>
          <a:p>
            <a:r>
              <a:rPr lang="en-IN" sz="2000" dirty="0" smtClean="0">
                <a:hlinkClick r:id="rId2"/>
              </a:rPr>
              <a:t> </a:t>
            </a:r>
            <a:r>
              <a:rPr lang="en-IN" sz="2000" dirty="0" err="1" smtClean="0">
                <a:hlinkClick r:id="rId2"/>
              </a:rPr>
              <a:t>Ateeqq</a:t>
            </a:r>
            <a:r>
              <a:rPr lang="en-IN" sz="2000" dirty="0" smtClean="0">
                <a:hlinkClick r:id="rId2"/>
              </a:rPr>
              <a:t>/</a:t>
            </a:r>
            <a:r>
              <a:rPr lang="en-IN" sz="2000" dirty="0" err="1" smtClean="0">
                <a:hlinkClick r:id="rId2"/>
              </a:rPr>
              <a:t>ai</a:t>
            </a:r>
            <a:r>
              <a:rPr lang="en-IN" sz="2000" dirty="0" smtClean="0">
                <a:hlinkClick r:id="rId2"/>
              </a:rPr>
              <a:t>-</a:t>
            </a:r>
            <a:r>
              <a:rPr lang="en-IN" sz="2000" dirty="0" err="1" smtClean="0">
                <a:hlinkClick r:id="rId2"/>
              </a:rPr>
              <a:t>vs</a:t>
            </a:r>
            <a:r>
              <a:rPr lang="en-IN" sz="2000" dirty="0" smtClean="0">
                <a:hlinkClick r:id="rId2"/>
              </a:rPr>
              <a:t>-human-image-detector </a:t>
            </a:r>
            <a:r>
              <a:rPr lang="en-IN" sz="2000" dirty="0">
                <a:hlinkClick r:id="rId2"/>
              </a:rPr>
              <a:t>· Hugging </a:t>
            </a:r>
            <a:r>
              <a:rPr lang="en-IN" sz="2000" dirty="0" smtClean="0">
                <a:hlinkClick r:id="rId2"/>
              </a:rPr>
              <a:t>Face</a:t>
            </a:r>
            <a:endParaRPr lang="en-IN" sz="2000" dirty="0" smtClean="0"/>
          </a:p>
          <a:p>
            <a:r>
              <a:rPr lang="en-IN" sz="2000" dirty="0" smtClean="0"/>
              <a:t> </a:t>
            </a:r>
            <a:r>
              <a:rPr lang="en-IN" sz="2000" dirty="0" err="1" smtClean="0">
                <a:hlinkClick r:id="rId3"/>
              </a:rPr>
              <a:t>SigLIP</a:t>
            </a:r>
            <a:r>
              <a:rPr lang="en-IN" sz="2000" dirty="0" smtClean="0">
                <a:hlinkClick r:id="rId3"/>
              </a:rPr>
              <a:t>: Sigmoid Loss for Language Image Pre-Training (arXiv:2303.15343)</a:t>
            </a:r>
            <a:endParaRPr lang="en-IN" sz="2000" dirty="0" smtClean="0"/>
          </a:p>
          <a:p>
            <a:r>
              <a:rPr lang="en-IN" sz="2000" dirty="0" smtClean="0"/>
              <a:t> </a:t>
            </a:r>
            <a:r>
              <a:rPr lang="en-IN" sz="2000" dirty="0">
                <a:hlinkClick r:id="rId4"/>
              </a:rPr>
              <a:t>C2PA Specifications — Coalition for Content Provenance and Authenticity</a:t>
            </a:r>
            <a:endParaRPr lang="en-IN" sz="2000" dirty="0"/>
          </a:p>
          <a:p>
            <a:r>
              <a:rPr lang="en-IN" sz="2000" dirty="0" smtClean="0"/>
              <a:t> </a:t>
            </a:r>
            <a:r>
              <a:rPr lang="en-IN" sz="2000" dirty="0" err="1">
                <a:hlinkClick r:id="rId5"/>
              </a:rPr>
              <a:t>FastAPI</a:t>
            </a:r>
            <a:r>
              <a:rPr lang="en-IN" sz="2000" dirty="0">
                <a:hlinkClick r:id="rId5"/>
              </a:rPr>
              <a:t> Documentation</a:t>
            </a:r>
            <a:endParaRPr lang="en-IN" sz="2000" dirty="0"/>
          </a:p>
          <a:p>
            <a:r>
              <a:rPr lang="en-IN" sz="2000" dirty="0" smtClean="0"/>
              <a:t> </a:t>
            </a:r>
            <a:r>
              <a:rPr lang="en-IN" sz="2000" dirty="0" err="1">
                <a:hlinkClick r:id="rId6"/>
              </a:rPr>
              <a:t>Streamlit</a:t>
            </a:r>
            <a:r>
              <a:rPr lang="en-IN" sz="2000" dirty="0">
                <a:hlinkClick r:id="rId6"/>
              </a:rPr>
              <a:t> Documentation</a:t>
            </a:r>
            <a:endParaRPr lang="en-IN" sz="2000" dirty="0"/>
          </a:p>
          <a:p>
            <a:pPr marL="0" indent="0">
              <a:buNone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Link &amp; 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endParaRPr dirty="0"/>
          </a:p>
          <a:p>
            <a:r>
              <a:rPr dirty="0" err="1" smtClean="0"/>
              <a:t>GitHub</a:t>
            </a:r>
            <a:r>
              <a:rPr dirty="0" smtClean="0"/>
              <a:t> </a:t>
            </a:r>
            <a:r>
              <a:rPr dirty="0"/>
              <a:t>Repository: </a:t>
            </a:r>
            <a:r>
              <a:rPr dirty="0">
                <a:hlinkClick r:id="rId2"/>
              </a:rPr>
              <a:t>https://github.com/PrateekGupta786/Truthify.git</a:t>
            </a:r>
            <a:endParaRPr dirty="0"/>
          </a:p>
          <a:p>
            <a:r>
              <a:rPr dirty="0" err="1" smtClean="0"/>
              <a:t>Streamlit</a:t>
            </a:r>
            <a:r>
              <a:rPr dirty="0" smtClean="0"/>
              <a:t> Cloud App: https://truthify.streamlit.app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Technologies: Python 3.11 | </a:t>
            </a:r>
            <a:r>
              <a:rPr dirty="0" err="1"/>
              <a:t>PyTorch</a:t>
            </a:r>
            <a:r>
              <a:rPr dirty="0"/>
              <a:t> </a:t>
            </a:r>
            <a:r>
              <a:rPr dirty="0" smtClean="0"/>
              <a:t>| </a:t>
            </a:r>
            <a:r>
              <a:rPr dirty="0" err="1"/>
              <a:t>FastAPI</a:t>
            </a:r>
            <a:r>
              <a:rPr dirty="0"/>
              <a:t> | </a:t>
            </a:r>
            <a:r>
              <a:rPr dirty="0" err="1"/>
              <a:t>Streamlit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>
            <a:normAutofit/>
          </a:bodyPr>
          <a:lstStyle/>
          <a:p>
            <a:pPr algn="ctr"/>
            <a:r>
              <a:rPr sz="6600" b="1" dirty="0">
                <a:latin typeface="Noto Sans Medium" pitchFamily="34" charset="0"/>
                <a:ea typeface="Noto Sans Medium" pitchFamily="34" charset="0"/>
                <a:cs typeface="Noto Sans Medium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c0fa2617-96bd-425d-8578-e93563fe37c5"/>
    <ds:schemaRef ds:uri="http://schemas.microsoft.com/office/2006/documentManagement/types"/>
    <ds:schemaRef ds:uri="http://purl.org/dc/terms/"/>
    <ds:schemaRef ds:uri="http://schemas.microsoft.com/office/infopath/2007/PartnerControls"/>
    <ds:schemaRef ds:uri="9162bd5b-4ed9-4da3-b376-05204580ba3f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347</TotalTime>
  <Words>939</Words>
  <Application>Microsoft Office PowerPoint</Application>
  <PresentationFormat>Custom</PresentationFormat>
  <Paragraphs>103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DividendVTI</vt:lpstr>
      <vt:lpstr>Truthify - AI Media Authenticity System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Deployment Link &amp; GitHub Repository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Dell</cp:lastModifiedBy>
  <cp:revision>30</cp:revision>
  <dcterms:created xsi:type="dcterms:W3CDTF">2021-05-26T16:50:10Z</dcterms:created>
  <dcterms:modified xsi:type="dcterms:W3CDTF">2026-08-20T12:41:49Z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